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53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585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2230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Fragmented Excel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Unified Workflow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spreadsheet operations vs. the proposed 3-Workflow Enterprise Application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2331720" cy="548640"/>
          </a:xfrm>
          <a:prstGeom prst="roundRect">
            <a:avLst>
              <a:gd name="adj" fmla="val 16667"/>
            </a:avLst>
          </a:prstGeom>
          <a:solidFill>
            <a:srgbClr val="2A3576"/>
          </a:solidFill>
          <a:ln w="12700">
            <a:solidFill>
              <a:srgbClr val="4550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80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Addition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54680" y="44805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963C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4480560"/>
            <a:ext cx="2331720" cy="548640"/>
          </a:xfrm>
          <a:prstGeom prst="roundRect">
            <a:avLst>
              <a:gd name="adj" fmla="val 16667"/>
            </a:avLst>
          </a:prstGeom>
          <a:solidFill>
            <a:srgbClr val="2A3576"/>
          </a:solidFill>
          <a:ln w="12700">
            <a:solidFill>
              <a:srgbClr val="4550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4480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Addition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15000" y="44805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963C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4480560"/>
            <a:ext cx="2331720" cy="548640"/>
          </a:xfrm>
          <a:prstGeom prst="roundRect">
            <a:avLst>
              <a:gd name="adj" fmla="val 16667"/>
            </a:avLst>
          </a:prstGeom>
          <a:solidFill>
            <a:srgbClr val="2A3576"/>
          </a:solidFill>
          <a:ln w="12700">
            <a:solidFill>
              <a:srgbClr val="4550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4480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Utilization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Session Feedback   ·   Batch NPS Scoring   ·   Real-Time Manager Dashboards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operating models, one goal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batch, schedule, and faculty data live across disconnected Excel files with no shared structure, no governance, and no feedback loop.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3-Workflow Enterprise Application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that fragmentation with a single connected pipeline —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Addition → Schedule Addition → Faculty Utilization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where session feedback and batch NPS scores are mandatory, and managers see performance in real time.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compares the two models side by side, then walks through the new platform's workflow, data structure, and governance impact.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49440" y="155448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D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66420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549640" y="166420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workflows replacing siloed spreadsheets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30175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D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312724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80%+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549640" y="312724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or batches closed without mandatory feedback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448056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D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459028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549640" y="459028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dashboards, updated in real time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· Legacy vs. 3-Workflow Platform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Excel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spreadsheets, ungoverned data, and no visibility into faculty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63624"/>
            <a:ext cx="566928" cy="566928"/>
          </a:xfrm>
          <a:prstGeom prst="ellipse">
            <a:avLst/>
          </a:prstGeom>
          <a:solidFill>
            <a:srgbClr val="B5473F"/>
          </a:solidFill>
          <a:ln/>
        </p:spPr>
      </p:sp>
      <p:pic>
        <p:nvPicPr>
          <p:cNvPr id="5" name="Image 0" descr="icons/data_corru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723644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1508760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F5E4E2"/>
          </a:solidFill>
          <a:ln/>
        </p:spPr>
      </p:sp>
      <p:sp>
        <p:nvSpPr>
          <p:cNvPr id="7" name="Text 4"/>
          <p:cNvSpPr/>
          <p:nvPr/>
        </p:nvSpPr>
        <p:spPr>
          <a:xfrm>
            <a:off x="1600200" y="150876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corruption &amp; no governance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892040" y="1508760"/>
            <a:ext cx="6537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Unstandardized templates, freeform text in numeric/date fields, and duplicate “versions of truth” across machines.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566928" cy="566928"/>
          </a:xfrm>
          <a:prstGeom prst="ellipse">
            <a:avLst/>
          </a:prstGeom>
          <a:solidFill>
            <a:srgbClr val="B5473F"/>
          </a:solidFill>
          <a:ln/>
        </p:spPr>
      </p:sp>
      <p:pic>
        <p:nvPicPr>
          <p:cNvPr id="10" name="Image 1" descr="icons/fragmen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656332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0" y="2441448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F5E4E2"/>
          </a:solidFill>
          <a:ln/>
        </p:spPr>
      </p:sp>
      <p:sp>
        <p:nvSpPr>
          <p:cNvPr id="12" name="Text 8"/>
          <p:cNvSpPr/>
          <p:nvPr/>
        </p:nvSpPr>
        <p:spPr>
          <a:xfrm>
            <a:off x="1600200" y="244144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Unlinked, fragmented operations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92040" y="2441448"/>
            <a:ext cx="6537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Batches, schedules, and faculty assignments sit in separate files with no shared Batch ID linking them.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566928" cy="566928"/>
          </a:xfrm>
          <a:prstGeom prst="ellipse">
            <a:avLst/>
          </a:prstGeom>
          <a:solidFill>
            <a:srgbClr val="B5473F"/>
          </a:solidFill>
          <a:ln/>
        </p:spPr>
      </p:sp>
      <p:pic>
        <p:nvPicPr>
          <p:cNvPr id="15" name="Image 2" descr="icons/no_feedb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589020"/>
            <a:ext cx="256032" cy="2560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371600" y="3374136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F5E4E2"/>
          </a:solidFill>
          <a:ln/>
        </p:spPr>
      </p:sp>
      <p:sp>
        <p:nvSpPr>
          <p:cNvPr id="17" name="Text 12"/>
          <p:cNvSpPr/>
          <p:nvPr/>
        </p:nvSpPr>
        <p:spPr>
          <a:xfrm>
            <a:off x="1600200" y="3374136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feedback or quality metrics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892040" y="3374136"/>
            <a:ext cx="6537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close informally, and 80%+ of batches close with zero feedback captured — quality remains anecdotal.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361688"/>
            <a:ext cx="566928" cy="566928"/>
          </a:xfrm>
          <a:prstGeom prst="ellipse">
            <a:avLst/>
          </a:prstGeom>
          <a:solidFill>
            <a:srgbClr val="B5473F"/>
          </a:solidFill>
          <a:ln/>
        </p:spPr>
      </p:sp>
      <p:pic>
        <p:nvPicPr>
          <p:cNvPr id="20" name="Image 3" descr="icons/isola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4521708"/>
            <a:ext cx="256032" cy="25603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371600" y="4306824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F5E4E2"/>
          </a:solidFill>
          <a:ln/>
        </p:spPr>
      </p:sp>
      <p:sp>
        <p:nvSpPr>
          <p:cNvPr id="22" name="Text 16"/>
          <p:cNvSpPr/>
          <p:nvPr/>
        </p:nvSpPr>
        <p:spPr>
          <a:xfrm>
            <a:off x="1600200" y="4306824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core enterprise systems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892040" y="4306824"/>
            <a:ext cx="6537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with faculty management systems — existing data goes unused instead of leveraged for decision making.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294376"/>
            <a:ext cx="566928" cy="566928"/>
          </a:xfrm>
          <a:prstGeom prst="ellipse">
            <a:avLst/>
          </a:prstGeom>
          <a:solidFill>
            <a:srgbClr val="B5473F"/>
          </a:solidFill>
          <a:ln/>
        </p:spPr>
      </p:sp>
      <p:pic>
        <p:nvPicPr>
          <p:cNvPr id="25" name="Image 4" descr="icons/no_visibil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5454396"/>
            <a:ext cx="256032" cy="25603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371600" y="5239512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F5E4E2"/>
          </a:solidFill>
          <a:ln/>
        </p:spPr>
      </p:sp>
      <p:sp>
        <p:nvSpPr>
          <p:cNvPr id="27" name="Text 20"/>
          <p:cNvSpPr/>
          <p:nvPr/>
        </p:nvSpPr>
        <p:spPr>
          <a:xfrm>
            <a:off x="1600200" y="523951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real-time manager visibility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892040" y="5239512"/>
            <a:ext cx="6537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arrive days or weeks late; utilization rates and performance can't be tracked live.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· Legacy vs. 3-Workflow Platform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3-Workflow Platform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pipeline with enforced governance, feedback, and live analytics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63624"/>
            <a:ext cx="566928" cy="566928"/>
          </a:xfrm>
          <a:prstGeom prst="ellipse">
            <a:avLst/>
          </a:prstGeom>
          <a:solidFill>
            <a:srgbClr val="2A7D6E"/>
          </a:solidFill>
          <a:ln/>
        </p:spPr>
      </p:sp>
      <p:pic>
        <p:nvPicPr>
          <p:cNvPr id="5" name="Image 0" descr="icons/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723644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1508760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E1EFEB"/>
          </a:solidFill>
          <a:ln/>
        </p:spPr>
      </p:sp>
      <p:sp>
        <p:nvSpPr>
          <p:cNvPr id="7" name="Text 4"/>
          <p:cNvSpPr/>
          <p:nvPr/>
        </p:nvSpPr>
        <p:spPr>
          <a:xfrm>
            <a:off x="1600200" y="150876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source data &amp; schema enforcement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892040" y="1508760"/>
            <a:ext cx="6537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forms and drag-and-drop parsers enforce headers, required fields, and data types before submission.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566928" cy="566928"/>
          </a:xfrm>
          <a:prstGeom prst="ellipse">
            <a:avLst/>
          </a:prstGeom>
          <a:solidFill>
            <a:srgbClr val="2A7D6E"/>
          </a:solidFill>
          <a:ln/>
        </p:spPr>
      </p:sp>
      <p:pic>
        <p:nvPicPr>
          <p:cNvPr id="10" name="Image 1" descr="icons/manda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656332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0" y="2441448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E1EFEB"/>
          </a:solidFill>
          <a:ln/>
        </p:spPr>
      </p:sp>
      <p:sp>
        <p:nvSpPr>
          <p:cNvPr id="12" name="Text 8"/>
          <p:cNvSpPr/>
          <p:nvPr/>
        </p:nvSpPr>
        <p:spPr>
          <a:xfrm>
            <a:off x="1600200" y="244144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session feedback &amp; batch NPS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92040" y="2441448"/>
            <a:ext cx="6537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completion requires ratings and topic feedback; batch closure requires an NPS score (0–10).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566928" cy="566928"/>
          </a:xfrm>
          <a:prstGeom prst="ellipse">
            <a:avLst/>
          </a:prstGeom>
          <a:solidFill>
            <a:srgbClr val="2A7D6E"/>
          </a:solidFill>
          <a:ln/>
        </p:spPr>
      </p:sp>
      <p:pic>
        <p:nvPicPr>
          <p:cNvPr id="15" name="Image 2" descr="icons/integr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589020"/>
            <a:ext cx="256032" cy="2560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371600" y="3374136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E1EFEB"/>
          </a:solidFill>
          <a:ln/>
        </p:spPr>
      </p:sp>
      <p:sp>
        <p:nvSpPr>
          <p:cNvPr id="17" name="Text 12"/>
          <p:cNvSpPr/>
          <p:nvPr/>
        </p:nvSpPr>
        <p:spPr>
          <a:xfrm>
            <a:off x="1600200" y="3374136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Faculty Management System integration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892040" y="3374136"/>
            <a:ext cx="6537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existing HR/faculty systems via REST APIs or scheduled exports — can also flag or block faculty assignment based on FMS status.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361688"/>
            <a:ext cx="566928" cy="566928"/>
          </a:xfrm>
          <a:prstGeom prst="ellipse">
            <a:avLst/>
          </a:prstGeom>
          <a:solidFill>
            <a:srgbClr val="2A7D6E"/>
          </a:solidFill>
          <a:ln/>
        </p:spPr>
      </p:sp>
      <p:pic>
        <p:nvPicPr>
          <p:cNvPr id="20" name="Image 3" descr="icons/sha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4521708"/>
            <a:ext cx="256032" cy="25603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371600" y="4306824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E1EFEB"/>
          </a:solidFill>
          <a:ln/>
        </p:spPr>
      </p:sp>
      <p:sp>
        <p:nvSpPr>
          <p:cNvPr id="22" name="Text 16"/>
          <p:cNvSpPr/>
          <p:nvPr/>
        </p:nvSpPr>
        <p:spPr>
          <a:xfrm>
            <a:off x="1600200" y="4306824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coordinator &amp; co-manager scope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892040" y="4306824"/>
            <a:ext cx="6537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coordinators shared across multiple managers, with visibility and approval access for all.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294376"/>
            <a:ext cx="566928" cy="566928"/>
          </a:xfrm>
          <a:prstGeom prst="ellipse">
            <a:avLst/>
          </a:prstGeom>
          <a:solidFill>
            <a:srgbClr val="2A7D6E"/>
          </a:solidFill>
          <a:ln/>
        </p:spPr>
      </p:sp>
      <p:pic>
        <p:nvPicPr>
          <p:cNvPr id="25" name="Image 4" descr="icons/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5454396"/>
            <a:ext cx="256032" cy="25603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371600" y="5239512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E1EFEB"/>
          </a:solidFill>
          <a:ln/>
        </p:spPr>
      </p:sp>
      <p:sp>
        <p:nvSpPr>
          <p:cNvPr id="27" name="Text 20"/>
          <p:cNvSpPr/>
          <p:nvPr/>
        </p:nvSpPr>
        <p:spPr>
          <a:xfrm>
            <a:off x="1600200" y="523951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manager dashboards &amp; scheduled ingestion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892040" y="5239512"/>
            <a:ext cx="6537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faculty workload, feedback trends, batch NPS, and ingestion status.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· Legacy vs. 3-Workflow Platform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Platform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connected workflows carry data from batch creation through to faculty appraisal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ED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b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18333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371600" y="19293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Addition &amp; Completion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246888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70432" y="2441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input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804672" y="306324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70432" y="3035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lock &amp; manager approval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804672" y="365760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70432" y="3630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active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804672" y="425196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70432" y="4224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batch feedback + NPS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3794760" y="30175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63C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297680" y="150876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ED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98848" y="17099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1" descr="icons/sche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292" y="1833372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20640" y="16916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120640" y="19293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Addition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553712" y="246888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919472" y="2441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active Batch ID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4553712" y="306324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919472" y="3035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ingestion</a:t>
            </a:r>
            <a:endParaRPr lang="en-US" sz="1080" dirty="0"/>
          </a:p>
        </p:txBody>
      </p:sp>
      <p:sp>
        <p:nvSpPr>
          <p:cNvPr id="27" name="Text 23"/>
          <p:cNvSpPr/>
          <p:nvPr/>
        </p:nvSpPr>
        <p:spPr>
          <a:xfrm>
            <a:off x="4553712" y="365760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919472" y="3630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validation &amp; approval</a:t>
            </a:r>
            <a:endParaRPr lang="en-US" sz="1080" dirty="0"/>
          </a:p>
        </p:txBody>
      </p:sp>
      <p:sp>
        <p:nvSpPr>
          <p:cNvPr id="29" name="Text 25"/>
          <p:cNvSpPr/>
          <p:nvPr/>
        </p:nvSpPr>
        <p:spPr>
          <a:xfrm>
            <a:off x="7543800" y="30175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63C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8046720" y="150876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EDF3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247888" y="17099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2" descr="icons/facul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332" y="1833372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869680" y="16916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8869680" y="19293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Utilization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8302752" y="246888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8668512" y="2441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faculty &amp; log session</a:t>
            </a:r>
            <a:endParaRPr lang="en-US" sz="1080" dirty="0"/>
          </a:p>
        </p:txBody>
      </p:sp>
      <p:sp>
        <p:nvSpPr>
          <p:cNvPr id="37" name="Text 32"/>
          <p:cNvSpPr/>
          <p:nvPr/>
        </p:nvSpPr>
        <p:spPr>
          <a:xfrm>
            <a:off x="8302752" y="306324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8668512" y="3035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session feedback</a:t>
            </a:r>
            <a:endParaRPr lang="en-US" sz="1080" dirty="0"/>
          </a:p>
        </p:txBody>
      </p:sp>
      <p:sp>
        <p:nvSpPr>
          <p:cNvPr id="39" name="Text 34"/>
          <p:cNvSpPr/>
          <p:nvPr/>
        </p:nvSpPr>
        <p:spPr>
          <a:xfrm>
            <a:off x="8302752" y="365760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8668512" y="3630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utilization &amp; quality math</a:t>
            </a:r>
            <a:endParaRPr lang="en-US" sz="1080" dirty="0"/>
          </a:p>
        </p:txBody>
      </p:sp>
      <p:sp>
        <p:nvSpPr>
          <p:cNvPr id="41" name="Text 36"/>
          <p:cNvSpPr/>
          <p:nvPr/>
        </p:nvSpPr>
        <p:spPr>
          <a:xfrm>
            <a:off x="8302752" y="425196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8668512" y="4224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Manager-scoped dashboard</a:t>
            </a:r>
            <a:endParaRPr lang="en-US" sz="1080" dirty="0"/>
          </a:p>
        </p:txBody>
      </p:sp>
      <p:sp>
        <p:nvSpPr>
          <p:cNvPr id="43" name="Shape 38"/>
          <p:cNvSpPr/>
          <p:nvPr/>
        </p:nvSpPr>
        <p:spPr>
          <a:xfrm>
            <a:off x="548640" y="5349240"/>
            <a:ext cx="107442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44" name="Text 39"/>
          <p:cNvSpPr/>
          <p:nvPr/>
        </p:nvSpPr>
        <p:spPr>
          <a:xfrm>
            <a:off x="822960" y="5349240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INTEGRATION  —  Syncs utilization, feedback &amp; NPS to the Existing FMS, which can also flag or block faculty assignment during scheduling</a:t>
            </a:r>
            <a:endParaRPr lang="en-US" sz="1150" dirty="0"/>
          </a:p>
        </p:txBody>
      </p:sp>
      <p:sp>
        <p:nvSpPr>
          <p:cNvPr id="45" name="Text 4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· Legacy vs. 3-Workflow Platform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Process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 from batch creation to faculty appraisal — with two built-in mandatory checkpoints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0" cy="3877056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6" name="Image 0" descr="icons/appro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453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417320" y="1600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Addition &amp; Approval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20208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→ Manager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617720" y="1417320"/>
            <a:ext cx="7040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creates the batch; manager approves and a locked Batch ID is issued.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386584"/>
            <a:ext cx="548640" cy="5486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" name="Image 1" descr="icons/cal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5146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359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417320" y="256946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Addition &amp; Ingestion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17320" y="29900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→ System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617720" y="2386584"/>
            <a:ext cx="7040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uploaded against the Batch ID; slot conflicts validated, then ingested in the background.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3355848"/>
            <a:ext cx="548640" cy="5486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8" name="Image 2" descr="icons/user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48386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3284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417320" y="35387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Utilization &amp; Session Feedback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17320" y="39593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→ System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617720" y="335584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assigned and session marked complete — utilization % is calculated automatically.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458200" y="3410712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F5E4E2"/>
          </a:solidFill>
          <a:ln w="9525">
            <a:solidFill>
              <a:srgbClr val="B5473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95360" y="341071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blocked until session feedback &amp; rating are submitted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40080" y="4325112"/>
            <a:ext cx="548640" cy="5486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6" name="Image 3" descr="icons/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45312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17320" y="4297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417320" y="45079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Completion &amp; NPS Score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417320" y="49286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→ System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617720" y="432511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marked completed and status updated.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8458200" y="4379976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F5E4E2"/>
          </a:solidFill>
          <a:ln w="9525">
            <a:solidFill>
              <a:srgbClr val="B5473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595360" y="437997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blocked until NPS score (0–10) &amp; retrospective are submitted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40080" y="5294376"/>
            <a:ext cx="548640" cy="5486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4" name="Image 4" descr="icons/gau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5422392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417320" y="52669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1417320" y="547725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Dashboard &amp; Optional FMS Sync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417320" y="5897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→ Dashboard → FMS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4617720" y="5294376"/>
            <a:ext cx="7040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views scoped analytics; utilization, feedback and NPS optionally sync to the Faculty Management System for appraisals.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· Legacy vs. 3-Workflow Platform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Flow — Batch, Schedule &amp; Feedback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Redrawn from the platform's PlantUML sequence diagram · Phases 1–3 of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" y="1371600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12080" y="1371600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 · Engines)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372600" y="1371600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37260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20240" y="1828800"/>
            <a:ext cx="0" cy="4526280"/>
          </a:xfrm>
          <a:prstGeom prst="line">
            <a:avLst/>
          </a:prstGeom>
          <a:noFill/>
          <a:ln w="12700">
            <a:solidFill>
              <a:srgbClr val="B9C2E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080760" y="1828800"/>
            <a:ext cx="0" cy="4526280"/>
          </a:xfrm>
          <a:prstGeom prst="line">
            <a:avLst/>
          </a:prstGeom>
          <a:noFill/>
          <a:ln w="12700">
            <a:solidFill>
              <a:srgbClr val="B9C2E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241280" y="1828800"/>
            <a:ext cx="0" cy="4526280"/>
          </a:xfrm>
          <a:prstGeom prst="line">
            <a:avLst/>
          </a:prstGeom>
          <a:noFill/>
          <a:ln w="12700">
            <a:solidFill>
              <a:srgbClr val="B9C2E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48640" y="2121408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39996" y="1984248"/>
            <a:ext cx="30815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39996" y="1984248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BATCH ADDITION &amp; APPROVAL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20240" y="2542032"/>
            <a:ext cx="4160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920240" y="227685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batch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2999232"/>
            <a:ext cx="4160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080760" y="273405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for approval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3456432"/>
            <a:ext cx="4160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headEnd type="triangle"/>
          </a:ln>
        </p:spPr>
      </p:sp>
      <p:sp>
        <p:nvSpPr>
          <p:cNvPr id="21" name="Text 19"/>
          <p:cNvSpPr/>
          <p:nvPr/>
        </p:nvSpPr>
        <p:spPr>
          <a:xfrm>
            <a:off x="6080760" y="319125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Batch ID locked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822192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39919" y="3685032"/>
            <a:ext cx="248168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39919" y="3685032"/>
            <a:ext cx="2481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SCHEDULE ADDITION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20240" y="4242816"/>
            <a:ext cx="4160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920240" y="397764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timetable → validated &amp; ingested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645152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2621" y="4507992"/>
            <a:ext cx="405627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052621" y="4507992"/>
            <a:ext cx="4056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FACULTY UTILIZATION &amp; SESSION FEEDBACK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920240" y="5065776"/>
            <a:ext cx="4160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920240" y="480060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faculty · mark session complete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920240" y="5541264"/>
            <a:ext cx="4160520" cy="0"/>
          </a:xfrm>
          <a:prstGeom prst="line">
            <a:avLst/>
          </a:prstGeom>
          <a:noFill/>
          <a:ln w="19050">
            <a:solidFill>
              <a:srgbClr val="B5473F"/>
            </a:solidFill>
            <a:prstDash val="dash"/>
            <a:headEnd type="triangle"/>
          </a:ln>
        </p:spPr>
      </p:sp>
      <p:sp>
        <p:nvSpPr>
          <p:cNvPr id="33" name="Text 31"/>
          <p:cNvSpPr/>
          <p:nvPr/>
        </p:nvSpPr>
        <p:spPr>
          <a:xfrm>
            <a:off x="1920240" y="527608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until feedback submitted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920240" y="6016752"/>
            <a:ext cx="4160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920240" y="575157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feedback → utilization % calculated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· Legacy vs. 3-Workflow Platform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Flow — Completion, NPS &amp; Dashboard Sync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Redrawn from the platform's PlantUML sequence diagram · Phases 4–5 of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22192" y="1371600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822192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 · Engines)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39712" y="1371600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39712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829800" y="1371600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FMS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91640" y="1828800"/>
            <a:ext cx="0" cy="3063240"/>
          </a:xfrm>
          <a:prstGeom prst="line">
            <a:avLst/>
          </a:prstGeom>
          <a:noFill/>
          <a:ln w="12700">
            <a:solidFill>
              <a:srgbClr val="B9C2E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690872" y="1828800"/>
            <a:ext cx="0" cy="3063240"/>
          </a:xfrm>
          <a:prstGeom prst="line">
            <a:avLst/>
          </a:prstGeom>
          <a:noFill/>
          <a:ln w="12700">
            <a:solidFill>
              <a:srgbClr val="B9C2E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708392" y="1828800"/>
            <a:ext cx="0" cy="3063240"/>
          </a:xfrm>
          <a:prstGeom prst="line">
            <a:avLst/>
          </a:prstGeom>
          <a:noFill/>
          <a:ln w="12700">
            <a:solidFill>
              <a:srgbClr val="B9C2E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698480" y="1828800"/>
            <a:ext cx="0" cy="3063240"/>
          </a:xfrm>
          <a:prstGeom prst="line">
            <a:avLst/>
          </a:prstGeom>
          <a:noFill/>
          <a:ln w="12700">
            <a:solidFill>
              <a:srgbClr val="B9C2E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2121408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27525" y="1984248"/>
            <a:ext cx="330647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427525" y="1984248"/>
            <a:ext cx="3306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BATCH COMPLETION &amp; NPS SCORE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91640" y="2542032"/>
            <a:ext cx="299923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691640" y="227685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batch complete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91640" y="2999232"/>
            <a:ext cx="2999232" cy="0"/>
          </a:xfrm>
          <a:prstGeom prst="line">
            <a:avLst/>
          </a:prstGeom>
          <a:noFill/>
          <a:ln w="19050">
            <a:solidFill>
              <a:srgbClr val="B5473F"/>
            </a:solidFill>
            <a:prstDash val="dash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1691640" y="273405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until NPS score submitted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91640" y="3456432"/>
            <a:ext cx="299923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691640" y="319125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NPS → batch closed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822192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90111" y="3685032"/>
            <a:ext cx="398129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090111" y="3685032"/>
            <a:ext cx="3981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MANAGER DASHBOARD &amp; OPTIONAL FMS SYNC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90872" y="4242816"/>
            <a:ext cx="3017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headEnd type="triangle"/>
          </a:ln>
        </p:spPr>
      </p:sp>
      <p:sp>
        <p:nvSpPr>
          <p:cNvPr id="29" name="Text 27"/>
          <p:cNvSpPr/>
          <p:nvPr/>
        </p:nvSpPr>
        <p:spPr>
          <a:xfrm>
            <a:off x="4690872" y="39776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scoped dashboard analytics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4700016"/>
            <a:ext cx="6007608" cy="0"/>
          </a:xfrm>
          <a:prstGeom prst="line">
            <a:avLst/>
          </a:prstGeom>
          <a:noFill/>
          <a:ln w="19050">
            <a:solidFill>
              <a:srgbClr val="E8963C"/>
            </a:solidFill>
            <a:prstDash val="dash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690872" y="4434840"/>
            <a:ext cx="6007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sync: hours, feedback, NPS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1663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Faculty Management System updates profile &amp; appraisal records — and can also flag or block a faculty member's assignment in future scheduling.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· Legacy vs. 3-Workflow Platform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legacy limitation maps directly to a platform capability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/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Legacy Excel Process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3-Workflow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Unstructured, freeform Excel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5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schema, validated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completion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informally or untracked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5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session feedback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conclusion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without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5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batch feedback + NPS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system 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Siloed / impossible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5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REST / API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Intuition-based / subjective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5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via real-time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Coordinator mapping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 1:1 or unmanaged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5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shared-coordinator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visibility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2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(weekly / monthly)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5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real-time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· Legacy vs. 3-Workflow Platform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Strategy: In-House vs. Supabase Cloud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computer (sufficient RAM &amp; CPU) + domain only  ·  vs. ·  Supabase Pro + domain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594360"/>
          </a:xfrm>
          <a:prstGeom prst="roundRect">
            <a:avLst>
              <a:gd name="adj" fmla="val 10769"/>
            </a:avLst>
          </a:prstGeom>
          <a:solidFill>
            <a:srgbClr val="4A2E8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🏠  In-House Hosting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hardware · domain only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91072" y="1325880"/>
            <a:ext cx="5486400" cy="594360"/>
          </a:xfrm>
          <a:prstGeom prst="roundRect">
            <a:avLst>
              <a:gd name="adj" fmla="val 10769"/>
            </a:avLst>
          </a:prstGeom>
          <a:solidFill>
            <a:srgbClr val="2A7D6E"/>
          </a:solidFill>
          <a:ln/>
        </p:spPr>
      </p:sp>
      <p:sp>
        <p:nvSpPr>
          <p:cNvPr id="8" name="Text 6"/>
          <p:cNvSpPr/>
          <p:nvPr/>
        </p:nvSpPr>
        <p:spPr>
          <a:xfrm>
            <a:off x="6291072" y="1325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☁️  Supabase Cloud (Pro)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91072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BaaS · zero infrastructure ops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325880"/>
            <a:ext cx="0" cy="452628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86000"/>
            <a:ext cx="11228832" cy="594360"/>
          </a:xfrm>
          <a:prstGeom prst="rect">
            <a:avLst/>
          </a:prstGeom>
          <a:solidFill>
            <a:srgbClr val="ED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86000"/>
            <a:ext cx="53035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backend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2499970"/>
            <a:ext cx="530352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 (existing machine, no new hardware cost)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333549"/>
            <a:ext cx="530352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₹2,100 / mo  ($25 · Supabase Pro)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DB, Storage, Edge Functions bundled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1228832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880360"/>
            <a:ext cx="53035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(.com renewal)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3094330"/>
            <a:ext cx="530352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₹800–₹1,200 / yr  (Namecheap ~₹800,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GoDaddy ~₹1,200 + 18% GST)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927909"/>
            <a:ext cx="530352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₹800–₹1,200 / yr  (same registrar;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add-on free on Pro)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11228832" cy="594360"/>
          </a:xfrm>
          <a:prstGeom prst="rect">
            <a:avLst/>
          </a:prstGeom>
          <a:solidFill>
            <a:srgbClr val="EDF3FD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474720"/>
            <a:ext cx="53035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/ HTTPS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3688690"/>
            <a:ext cx="530352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— ₹0  (free, auto-renews)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522269"/>
            <a:ext cx="530352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 (included; custom domain SSL auto-provisioned)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11228832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658368" y="4069080"/>
            <a:ext cx="53035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&amp; uptime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4283050"/>
            <a:ext cx="530352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always-on, with UPS (already available)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4116629"/>
            <a:ext cx="530352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 (Supabase manages infra; 99.9% SLA)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228832" cy="594360"/>
          </a:xfrm>
          <a:prstGeom prst="rect">
            <a:avLst/>
          </a:prstGeom>
          <a:solidFill>
            <a:srgbClr val="EDF3FD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663440"/>
            <a:ext cx="53035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/ updates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" y="4877410"/>
            <a:ext cx="530352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OS patches, DB upgrades,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renewal, backups your team owns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4710989"/>
            <a:ext cx="530352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— Postgres, 7-day backups,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patches handled by Supabase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257800"/>
            <a:ext cx="11228832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5257800"/>
            <a:ext cx="53035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" y="5471770"/>
            <a:ext cx="530352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by hardware; physical upgrade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if traffic or data grows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5305349"/>
            <a:ext cx="530352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compute tier on-demand;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Cap prevents surprise bills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943600"/>
            <a:ext cx="5486400" cy="658368"/>
          </a:xfrm>
          <a:prstGeom prst="roundRect">
            <a:avLst>
              <a:gd name="adj" fmla="val 9722"/>
            </a:avLst>
          </a:prstGeom>
          <a:solidFill>
            <a:srgbClr val="4A2E8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59436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cost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152" y="61950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₹65–₹100 / </a:t>
            </a:r>
            <a:r>
              <a:rPr lang="en-US" sz="125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</a:t>
            </a: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(domain ÷12)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291072" y="5943600"/>
            <a:ext cx="5486400" cy="658368"/>
          </a:xfrm>
          <a:prstGeom prst="roundRect">
            <a:avLst>
              <a:gd name="adj" fmla="val 9722"/>
            </a:avLst>
          </a:prstGeom>
          <a:solidFill>
            <a:srgbClr val="2A7D6E"/>
          </a:solidFill>
          <a:ln/>
        </p:spPr>
      </p:sp>
      <p:sp>
        <p:nvSpPr>
          <p:cNvPr id="39" name="Text 37"/>
          <p:cNvSpPr/>
          <p:nvPr/>
        </p:nvSpPr>
        <p:spPr>
          <a:xfrm>
            <a:off x="6428232" y="59436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D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cost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28232" y="62544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₹2,165–₹2,300 / mo  (Pro + domain ÷12)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5425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· Legacy vs. 3-Workflow Platform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spreadsheets to a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decision-making asset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session feedback, batch NPS scoring, and optional Faculty Management System integration turn day-to-day operational tracking into empirical, data-backed faculty governance.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032504"/>
            <a:ext cx="146304" cy="14630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8862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Schema-locked data replaces freeform Excel entry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535424"/>
            <a:ext cx="146304" cy="14630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3891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session or batch closes without feedback + NPS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038344"/>
            <a:ext cx="146304" cy="14630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892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see utilization and quality in real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541264"/>
            <a:ext cx="146304" cy="14630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39496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faculty systems stay in place — platform syncs in, not replaces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· Legacy vs. 3-Workflow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1404</Words>
  <Application>Microsoft Office PowerPoint</Application>
  <PresentationFormat>Widescreen</PresentationFormat>
  <Paragraphs>237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Vishal Suresh Kumar [UNext]</cp:lastModifiedBy>
  <cp:revision>4</cp:revision>
  <dcterms:created xsi:type="dcterms:W3CDTF">2026-08-24T04:17:26Z</dcterms:created>
  <dcterms:modified xsi:type="dcterms:W3CDTF">2026-08-24T15:05:53Z</dcterms:modified>
</cp:coreProperties>
</file>